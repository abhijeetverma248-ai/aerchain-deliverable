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QuoteLens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Kill the Quote Spreadsheet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Aerchain Product Take-Home</a:t>
            </a:r>
          </a:p>
          <a:p>
            <a:pPr>
              <a:spcAft>
                <a:spcPts val="1200"/>
              </a:spcAft>
              <a:defRPr sz="2000"/>
            </a:pPr>
            <a:r>
              <a:t>Corrugated packaging • 5 vendors • 30 lines</a:t>
            </a:r>
          </a:p>
          <a:p>
            <a:pPr>
              <a:spcAft>
                <a:spcPts val="1200"/>
              </a:spcAft>
              <a:defRPr sz="2000"/>
            </a:pPr>
            <a:r>
              <a:t>AI extraction + comparison + analyst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Supplier responses arrive in incompatible shapes.</a:t>
            </a:r>
          </a:p>
          <a:p>
            <a:pPr>
              <a:spcAft>
                <a:spcPts val="1200"/>
              </a:spcAft>
              <a:defRPr sz="2000"/>
            </a:pPr>
            <a:r>
              <a:t>Manual re-keying creates time cost and transcription risk.</a:t>
            </a:r>
          </a:p>
          <a:p>
            <a:pPr>
              <a:spcAft>
                <a:spcPts val="1200"/>
              </a:spcAft>
              <a:defRPr sz="2000"/>
            </a:pPr>
            <a:r>
              <a:t>The decision question requires eligibility + missing data + units + currencies, not just a price table.</a:t>
            </a:r>
          </a:p>
          <a:p>
            <a:pPr>
              <a:spcAft>
                <a:spcPts val="1200"/>
              </a:spcAft>
              <a:defRPr sz="2000"/>
            </a:pPr>
            <a:r>
              <a:t>Goal: turn unstructured responses into defensible procurement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Buyer scope → AI RFx</a:t>
            </a:r>
          </a:p>
          <a:p>
            <a:pPr>
              <a:spcAft>
                <a:spcPts val="1200"/>
              </a:spcAft>
              <a:defRPr sz="2000"/>
            </a:pPr>
            <a:r>
              <a:t>2. Vendors reply however they like</a:t>
            </a:r>
          </a:p>
          <a:p>
            <a:pPr>
              <a:spcAft>
                <a:spcPts val="1200"/>
              </a:spcAft>
              <a:defRPr sz="2000"/>
            </a:pPr>
            <a:r>
              <a:t>3. AI extracts structured quote data</a:t>
            </a:r>
          </a:p>
          <a:p>
            <a:pPr>
              <a:spcAft>
                <a:spcPts val="1200"/>
              </a:spcAft>
              <a:defRPr sz="2000"/>
            </a:pPr>
            <a:r>
              <a:t>4. Normalize into one comparison model</a:t>
            </a:r>
          </a:p>
          <a:p>
            <a:pPr>
              <a:spcAft>
                <a:spcPts val="1200"/>
              </a:spcAft>
              <a:defRPr sz="2000"/>
            </a:pPr>
            <a:r>
              <a:t>5. Buyer interrogates the result in natural language</a:t>
            </a:r>
          </a:p>
          <a:p>
            <a:pPr>
              <a:spcAft>
                <a:spcPts val="1200"/>
              </a:spcAft>
              <a:defRPr sz="2000"/>
            </a:pPr>
            <a:r>
              <a:t>6. Export / award analysis with uncertainty visible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Deliberately ugly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Apex — Excel / INR / complete</a:t>
            </a:r>
          </a:p>
          <a:p>
            <a:pPr>
              <a:spcAft>
                <a:spcPts val="1200"/>
              </a:spcAft>
              <a:defRPr sz="2000"/>
            </a:pPr>
            <a:r>
              <a:t>BoxCraft — Word / prose-heavy</a:t>
            </a:r>
          </a:p>
          <a:p>
            <a:pPr>
              <a:spcAft>
                <a:spcPts val="1200"/>
              </a:spcAft>
              <a:defRPr sz="2000"/>
            </a:pPr>
            <a:r>
              <a:t>NorthStar — PDF / USD</a:t>
            </a:r>
          </a:p>
          <a:p>
            <a:pPr>
              <a:spcAft>
                <a:spcPts val="1200"/>
              </a:spcAft>
              <a:defRPr sz="2000"/>
            </a:pPr>
            <a:r>
              <a:t>Metro — photographed rate card / 2 missing lines / quality score below threshold</a:t>
            </a:r>
          </a:p>
          <a:p>
            <a:pPr>
              <a:spcAft>
                <a:spcPts val="1200"/>
              </a:spcAft>
              <a:defRPr sz="2000"/>
            </a:pPr>
            <a:r>
              <a:t>RapidPack — terse email/text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Trust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Missing quote ≠ zero price.</a:t>
            </a:r>
          </a:p>
          <a:p>
            <a:pPr>
              <a:spcAft>
                <a:spcPts val="1200"/>
              </a:spcAft>
              <a:defRPr sz="2000"/>
            </a:pPr>
            <a:r>
              <a:t>Vendor currency is preserved; no silent FX conversion.</a:t>
            </a:r>
          </a:p>
          <a:p>
            <a:pPr>
              <a:spcAft>
                <a:spcPts val="1200"/>
              </a:spcAft>
              <a:defRPr sz="2000"/>
            </a:pPr>
            <a:r>
              <a:t>Quality eligibility is separate from commercial price.</a:t>
            </a:r>
          </a:p>
          <a:p>
            <a:pPr>
              <a:spcAft>
                <a:spcPts val="1200"/>
              </a:spcAft>
              <a:defRPr sz="2000"/>
            </a:pPr>
            <a:r>
              <a:t>Each extracted line carries confidence + evidence.</a:t>
            </a:r>
          </a:p>
          <a:p>
            <a:pPr>
              <a:spcAft>
                <a:spcPts val="1200"/>
              </a:spcAft>
              <a:defRPr sz="2000"/>
            </a:pPr>
            <a:r>
              <a:t>Analyst instructions require assumptions and uncertainty to be surfaced.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Questions to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“Among vendors that passed quality, who is cheapest per line?”</a:t>
            </a:r>
          </a:p>
          <a:p>
            <a:pPr>
              <a:spcAft>
                <a:spcPts val="1200"/>
              </a:spcAft>
              <a:defRPr sz="2000"/>
            </a:pPr>
            <a:r>
              <a:t>“Where does currency conversion prevent a definitive comparison?”</a:t>
            </a:r>
          </a:p>
          <a:p>
            <a:pPr>
              <a:spcAft>
                <a:spcPts val="1200"/>
              </a:spcAft>
              <a:defRPr sz="2000"/>
            </a:pPr>
            <a:r>
              <a:t>“Which lines have no quote or low-confidence extraction?”</a:t>
            </a:r>
          </a:p>
          <a:p>
            <a:pPr>
              <a:spcAft>
                <a:spcPts val="1200"/>
              </a:spcAft>
              <a:defRPr sz="2000"/>
            </a:pPr>
            <a:r>
              <a:t>“What if we require ≥90% line coverage?”</a:t>
            </a:r>
          </a:p>
          <a:p>
            <a:pPr>
              <a:spcAft>
                <a:spcPts val="1200"/>
              </a:spcAft>
              <a:defRPr sz="2000"/>
            </a:pPr>
            <a:r>
              <a:t>“Create a split-award view and explain exceptions.”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Real vs stubbed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REAL: model-driven extraction loop</a:t>
            </a:r>
          </a:p>
          <a:p>
            <a:pPr>
              <a:spcAft>
                <a:spcPts val="1200"/>
              </a:spcAft>
              <a:defRPr sz="2000"/>
            </a:pPr>
            <a:r>
              <a:t>REAL: model-driven analyst/reasoning loop</a:t>
            </a:r>
          </a:p>
          <a:p>
            <a:pPr>
              <a:spcAft>
                <a:spcPts val="1200"/>
              </a:spcAft>
              <a:defRPr sz="2000"/>
            </a:pPr>
            <a:r>
              <a:t>REAL: heterogeneous intake + normalization UI</a:t>
            </a:r>
          </a:p>
          <a:p>
            <a:pPr>
              <a:spcAft>
                <a:spcPts val="1200"/>
              </a:spcAft>
              <a:defRPr sz="2000"/>
            </a:pPr>
            <a:r>
              <a:t>STUBBED: SMTP / outbound supplier communication</a:t>
            </a:r>
          </a:p>
          <a:p>
            <a:pPr>
              <a:spcAft>
                <a:spcPts val="1200"/>
              </a:spcAft>
              <a:defRPr sz="2000"/>
            </a:pPr>
            <a:r>
              <a:t>OUT OF SCOPE: production auth/RBAC, live FX, supplier portal, full audit/compliance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Product judgment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differentiated value is not OCR alone; it is decision-ready procurement data.</a:t>
            </a:r>
          </a:p>
          <a:p>
            <a:pPr>
              <a:spcAft>
                <a:spcPts val="1200"/>
              </a:spcAft>
              <a:defRPr sz="2000"/>
            </a:pPr>
            <a:r>
              <a:t>The comparison layer becomes the shared source for the award conversation.</a:t>
            </a:r>
          </a:p>
          <a:p>
            <a:pPr>
              <a:spcAft>
                <a:spcPts val="1200"/>
              </a:spcAft>
              <a:defRPr sz="2000"/>
            </a:pPr>
            <a:r>
              <a:t>Trust is a product feature: uncertainty appears at the moment the buyer is about to 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/>
            </a:pPr>
            <a:r>
              <a:t>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Start with buyer scope.</a:t>
            </a:r>
          </a:p>
          <a:p>
            <a:pPr>
              <a:spcAft>
                <a:spcPts val="1200"/>
              </a:spcAft>
              <a:defRPr sz="2000"/>
            </a:pPr>
            <a:r>
              <a:t>Show five incompatible formats.</a:t>
            </a:r>
          </a:p>
          <a:p>
            <a:pPr>
              <a:spcAft>
                <a:spcPts val="1200"/>
              </a:spcAft>
              <a:defRPr sz="2000"/>
            </a:pPr>
            <a:r>
              <a:t>Run extraction and inspect exceptions.</a:t>
            </a:r>
          </a:p>
          <a:p>
            <a:pPr>
              <a:spcAft>
                <a:spcPts val="1200"/>
              </a:spcAft>
              <a:defRPr sz="2000"/>
            </a:pPr>
            <a:r>
              <a:t>Ask one commercial and one trust/edge-case question.</a:t>
            </a:r>
          </a:p>
          <a:p>
            <a:pPr>
              <a:spcAft>
                <a:spcPts val="1200"/>
              </a:spcAft>
              <a:defRPr sz="2000"/>
            </a:pPr>
            <a:r>
              <a:t>Export normalized comparison.</a:t>
            </a:r>
          </a:p>
          <a:p>
            <a:pPr>
              <a:spcAft>
                <a:spcPts val="1200"/>
              </a:spcAft>
              <a:defRPr sz="2000"/>
            </a:pPr>
            <a:r>
              <a:t>Close with deliberate omissions and rationale.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